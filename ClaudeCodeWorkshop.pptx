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2" r:id="rId5"/>
    <p:sldId id="261" r:id="rId6"/>
    <p:sldId id="268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93"/>
    <p:restoredTop sz="94647"/>
  </p:normalViewPr>
  <p:slideViewPr>
    <p:cSldViewPr snapToGrid="0" snapToObjects="1">
      <p:cViewPr varScale="1">
        <p:scale>
          <a:sx n="93" d="100"/>
          <a:sy n="93" d="100"/>
        </p:scale>
        <p:origin x="23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Accent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BottomLine"/>
          <p:cNvSpPr/>
          <p:nvPr/>
        </p:nvSpPr>
        <p:spPr>
          <a:xfrm>
            <a:off x="457200" y="64008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2D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2D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2D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2D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FD8E-8FC7-C6C1-B774-D65461EBA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3444" y="3143647"/>
            <a:ext cx="2342285" cy="861219"/>
          </a:xfrm>
        </p:spPr>
        <p:txBody>
          <a:bodyPr>
            <a:normAutofit fontScale="90000"/>
          </a:bodyPr>
          <a:lstStyle/>
          <a:p>
            <a:r>
              <a:rPr lang="en-US" sz="4000" spc="-150" dirty="0">
                <a:latin typeface="Andale Mono" panose="020B0509000000000004" pitchFamily="49" charset="0"/>
              </a:rPr>
              <a:t>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B7784-B13E-00E0-6FBF-0895EA6C7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8223" y="4213226"/>
            <a:ext cx="8312727" cy="1655762"/>
          </a:xfrm>
        </p:spPr>
        <p:txBody>
          <a:bodyPr/>
          <a:lstStyle/>
          <a:p>
            <a:r>
              <a:rPr lang="en-US" dirty="0"/>
              <a:t>Blake Lash 26/03/09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6AEAFAC1-E6B4-6763-C164-4A5BA30D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20" y="721823"/>
            <a:ext cx="6676159" cy="25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5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BCB4-B642-04CA-BE28-6A291DE0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698500"/>
          </a:xfrm>
        </p:spPr>
        <p:txBody>
          <a:bodyPr>
            <a:noAutofit/>
          </a:bodyPr>
          <a:lstStyle/>
          <a:p>
            <a:r>
              <a:rPr lang="en-US" sz="3200"/>
              <a:t>What is a Coding Agent?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896CE5-648A-5247-9072-C5A16A80174B}"/>
              </a:ext>
            </a:extLst>
          </p:cNvPr>
          <p:cNvSpPr/>
          <p:nvPr/>
        </p:nvSpPr>
        <p:spPr>
          <a:xfrm>
            <a:off x="508000" y="1206500"/>
            <a:ext cx="5270500" cy="5016500"/>
          </a:xfrm>
          <a:prstGeom prst="roundRect">
            <a:avLst/>
          </a:prstGeom>
          <a:solidFill>
            <a:srgbClr val="F0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85FFBA-09BD-C64F-8083-3CC7D335B29F}"/>
              </a:ext>
            </a:extLst>
          </p:cNvPr>
          <p:cNvSpPr/>
          <p:nvPr/>
        </p:nvSpPr>
        <p:spPr>
          <a:xfrm>
            <a:off x="6413500" y="1206500"/>
            <a:ext cx="5270500" cy="5016500"/>
          </a:xfrm>
          <a:prstGeom prst="roundRect">
            <a:avLst/>
          </a:prstGeom>
          <a:solidFill>
            <a:srgbClr val="FEF3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A22B1-A1C8-A94B-9DEA-4C4C404E1B0C}"/>
              </a:ext>
            </a:extLst>
          </p:cNvPr>
          <p:cNvSpPr txBox="1"/>
          <p:nvPr/>
        </p:nvSpPr>
        <p:spPr>
          <a:xfrm>
            <a:off x="736600" y="1371600"/>
            <a:ext cx="393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D2D44"/>
                </a:solidFill>
              </a:rPr>
              <a:t>LLM / Chatbot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559D1-55DF-C04B-BF0F-21DDB2B11B36}"/>
              </a:ext>
            </a:extLst>
          </p:cNvPr>
          <p:cNvSpPr txBox="1"/>
          <p:nvPr/>
        </p:nvSpPr>
        <p:spPr>
          <a:xfrm>
            <a:off x="6642100" y="1371600"/>
            <a:ext cx="393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92400E"/>
                </a:solidFill>
              </a:rPr>
              <a:t>Coding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817A9-D17A-5A46-8B7A-48EC5F82D666}"/>
              </a:ext>
            </a:extLst>
          </p:cNvPr>
          <p:cNvSpPr txBox="1"/>
          <p:nvPr/>
        </p:nvSpPr>
        <p:spPr>
          <a:xfrm>
            <a:off x="736600" y="19050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B5563"/>
                </a:solidFill>
              </a:rPr>
              <a:t>ChatGPT, Claude.ai,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D79AB-5464-7D4D-923D-78D27FE0B0F0}"/>
              </a:ext>
            </a:extLst>
          </p:cNvPr>
          <p:cNvSpPr txBox="1"/>
          <p:nvPr/>
        </p:nvSpPr>
        <p:spPr>
          <a:xfrm>
            <a:off x="6642100" y="19050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78350F"/>
                </a:solidFill>
              </a:rPr>
              <a:t>Claude Code, Cursor, Copilot Agent</a:t>
            </a:r>
          </a:p>
        </p:txBody>
      </p:sp>
      <p:pic>
        <p:nvPicPr>
          <p:cNvPr id="9" name="Graphic 9" descr="Chat icon for LL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1371600"/>
            <a:ext cx="457200" cy="457200"/>
          </a:xfrm>
          <a:prstGeom prst="rect">
            <a:avLst/>
          </a:prstGeom>
        </p:spPr>
      </p:pic>
      <p:pic>
        <p:nvPicPr>
          <p:cNvPr id="10" name="Graphic 10" descr="Terminal icon for Agen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0" y="1371600"/>
            <a:ext cx="4572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D1C940-7617-9245-BC52-9FA12B4C9FD2}"/>
              </a:ext>
            </a:extLst>
          </p:cNvPr>
          <p:cNvSpPr txBox="1"/>
          <p:nvPr/>
        </p:nvSpPr>
        <p:spPr>
          <a:xfrm>
            <a:off x="736600" y="2349500"/>
            <a:ext cx="4826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You type a prompt, get a response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One question </a:t>
            </a:r>
            <a:r>
              <a:rPr lang="en-US" sz="1400" dirty="0">
                <a:solidFill>
                  <a:srgbClr val="6B7280"/>
                </a:solidFill>
                <a:latin typeface="Segoe UI"/>
              </a:rPr>
              <a:t>→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one answer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Can't run code or access your files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You copy-paste output manually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Great for Q&amp;A, writing, brainstorming</a:t>
            </a:r>
          </a:p>
          <a:p>
            <a:pPr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6B7280"/>
                </a:solidFill>
                <a:latin typeface="Segoe UI Semibold"/>
              </a:rPr>
              <a:t>You are the executor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BD46A-ED67-9545-AF80-316D487069EE}"/>
              </a:ext>
            </a:extLst>
          </p:cNvPr>
          <p:cNvSpPr txBox="1"/>
          <p:nvPr/>
        </p:nvSpPr>
        <p:spPr>
          <a:xfrm>
            <a:off x="6642100" y="2349500"/>
            <a:ext cx="4826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You describe a goal, it works toward it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Plans </a:t>
            </a:r>
            <a:r>
              <a:rPr lang="en-US" sz="1400" dirty="0">
                <a:solidFill>
                  <a:srgbClr val="92400E"/>
                </a:solidFill>
                <a:latin typeface="Segoe UI"/>
              </a:rPr>
              <a:t>→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writes code </a:t>
            </a:r>
            <a:r>
              <a:rPr lang="en-US" sz="1400" dirty="0">
                <a:solidFill>
                  <a:srgbClr val="92400E"/>
                </a:solidFill>
                <a:latin typeface="Segoe UI"/>
              </a:rPr>
              <a:t>→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runs </a:t>
            </a:r>
            <a:r>
              <a:rPr lang="en-US" sz="1400" dirty="0">
                <a:solidFill>
                  <a:srgbClr val="92400E"/>
                </a:solidFill>
                <a:latin typeface="Segoe UI"/>
              </a:rPr>
              <a:t>→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iterates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Reads &amp; writes files in your project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Executes commands in your terminal</a:t>
            </a:r>
          </a:p>
          <a:p>
            <a:pPr>
              <a:lnSpc>
                <a:spcPts val="2200"/>
              </a:lnSpc>
              <a:spcBef>
                <a:spcPts val="2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Can search, debug, and fix errors</a:t>
            </a:r>
          </a:p>
          <a:p>
            <a:pPr>
              <a:lnSpc>
                <a:spcPts val="2200"/>
              </a:lnSpc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78350F"/>
                </a:solidFill>
                <a:latin typeface="Segoe UI Semibold"/>
              </a:rPr>
              <a:t>The agent is the executor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938F4C-7507-944A-844B-20188DCBB6E7}"/>
              </a:ext>
            </a:extLst>
          </p:cNvPr>
          <p:cNvSpPr/>
          <p:nvPr/>
        </p:nvSpPr>
        <p:spPr>
          <a:xfrm>
            <a:off x="5753100" y="3302000"/>
            <a:ext cx="685800" cy="6858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i="1">
                <a:solidFill>
                  <a:srgbClr val="6B7280"/>
                </a:solidFill>
              </a:rPr>
              <a:t>vs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CE441-CDBD-104E-85A5-6E9925CDB4C1}"/>
              </a:ext>
            </a:extLst>
          </p:cNvPr>
          <p:cNvSpPr txBox="1"/>
          <p:nvPr/>
        </p:nvSpPr>
        <p:spPr>
          <a:xfrm>
            <a:off x="508000" y="6223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7280"/>
                </a:solidFill>
              </a:rPr>
              <a:t>In this workshop, we'll learn to leverage Claude Code — a coding agent that works alongside you in your terminal.</a:t>
            </a:r>
          </a:p>
        </p:txBody>
      </p:sp>
    </p:spTree>
    <p:extLst>
      <p:ext uri="{BB962C8B-B14F-4D97-AF65-F5344CB8AC3E}">
        <p14:creationId xmlns:p14="http://schemas.microsoft.com/office/powerpoint/2010/main" val="27583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0B24-00F3-5E2F-D861-99112CA5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17500"/>
            <a:ext cx="11176000" cy="698500"/>
          </a:xfrm>
        </p:spPr>
        <p:txBody>
          <a:bodyPr>
            <a:noAutofit/>
          </a:bodyPr>
          <a:lstStyle/>
          <a:p>
            <a:r>
              <a:rPr lang="en-US" sz="3200"/>
              <a:t>Agents = LLMs in a Harness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13441F-BB9A-284C-98C0-4B24372CDFE8}"/>
              </a:ext>
            </a:extLst>
          </p:cNvPr>
          <p:cNvSpPr/>
          <p:nvPr/>
        </p:nvSpPr>
        <p:spPr>
          <a:xfrm>
            <a:off x="698500" y="1206500"/>
            <a:ext cx="1143000" cy="1143000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35042-9122-8442-95F5-A5EBB1C18685}"/>
              </a:ext>
            </a:extLst>
          </p:cNvPr>
          <p:cNvSpPr txBox="1"/>
          <p:nvPr/>
        </p:nvSpPr>
        <p:spPr>
          <a:xfrm>
            <a:off x="1968500" y="1460500"/>
            <a:ext cx="50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B7280"/>
                </a:solidFill>
              </a:rPr>
              <a:t>+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7A07D2-5764-EE4A-8A18-F7518ECA3004}"/>
              </a:ext>
            </a:extLst>
          </p:cNvPr>
          <p:cNvSpPr/>
          <p:nvPr/>
        </p:nvSpPr>
        <p:spPr>
          <a:xfrm>
            <a:off x="2603500" y="1244600"/>
            <a:ext cx="2032000" cy="1041400"/>
          </a:xfrm>
          <a:prstGeom prst="round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F6C46-9617-BC4F-9F62-01F76E4CC027}"/>
              </a:ext>
            </a:extLst>
          </p:cNvPr>
          <p:cNvSpPr txBox="1"/>
          <p:nvPr/>
        </p:nvSpPr>
        <p:spPr>
          <a:xfrm>
            <a:off x="4762500" y="1460500"/>
            <a:ext cx="50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B7280"/>
                </a:solidFill>
              </a:rPr>
              <a:t>=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B34F747-BB68-B440-B18E-F3B3AC2476DB}"/>
              </a:ext>
            </a:extLst>
          </p:cNvPr>
          <p:cNvSpPr/>
          <p:nvPr/>
        </p:nvSpPr>
        <p:spPr>
          <a:xfrm>
            <a:off x="5397500" y="1206500"/>
            <a:ext cx="2032000" cy="1143000"/>
          </a:xfrm>
          <a:prstGeom prst="round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BE21D-E9C2-2E44-BD70-582E29E8D9C2}"/>
              </a:ext>
            </a:extLst>
          </p:cNvPr>
          <p:cNvSpPr txBox="1"/>
          <p:nvPr/>
        </p:nvSpPr>
        <p:spPr>
          <a:xfrm>
            <a:off x="7747000" y="1206500"/>
            <a:ext cx="406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Segoe UI"/>
              </a:rPr>
              <a:t>The </a:t>
            </a:r>
            <a:r>
              <a:rPr lang="en-US" sz="1400" b="1" dirty="0">
                <a:solidFill>
                  <a:srgbClr val="2563EB"/>
                </a:solidFill>
                <a:latin typeface="Segoe UI"/>
              </a:rPr>
              <a:t>same LLM</a:t>
            </a:r>
            <a:r>
              <a:rPr lang="en-US" sz="1400" dirty="0">
                <a:solidFill>
                  <a:srgbClr val="4B5563"/>
                </a:solidFill>
                <a:latin typeface="Segoe UI"/>
              </a:rPr>
              <a:t> powers both. The </a:t>
            </a:r>
            <a:r>
              <a:rPr lang="en-US" sz="1400" b="1" dirty="0">
                <a:solidFill>
                  <a:srgbClr val="D97706"/>
                </a:solidFill>
                <a:latin typeface="Segoe UI"/>
              </a:rPr>
              <a:t>harness</a:t>
            </a:r>
            <a:r>
              <a:rPr lang="en-US" sz="1400" dirty="0">
                <a:solidFill>
                  <a:srgbClr val="4B5563"/>
                </a:solidFill>
                <a:latin typeface="Segoe UI"/>
              </a:rPr>
              <a:t> gives it tools: file access, terminal, search, and a loop to plan, act, observe, and retry.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F2FF2A-4B8C-B940-8961-1A20C5F9E4D7}"/>
              </a:ext>
            </a:extLst>
          </p:cNvPr>
          <p:cNvCxnSpPr/>
          <p:nvPr/>
        </p:nvCxnSpPr>
        <p:spPr>
          <a:xfrm>
            <a:off x="508000" y="2603500"/>
            <a:ext cx="11176000" cy="0"/>
          </a:xfrm>
          <a:prstGeom prst="straightConnector1">
            <a:avLst/>
          </a:prstGeom>
          <a:ln w="1270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08EC08-1725-5449-B0F1-A45A666A0E5D}"/>
              </a:ext>
            </a:extLst>
          </p:cNvPr>
          <p:cNvSpPr txBox="1"/>
          <p:nvPr/>
        </p:nvSpPr>
        <p:spPr>
          <a:xfrm>
            <a:off x="508000" y="2730500"/>
            <a:ext cx="1117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2E"/>
                </a:solidFill>
              </a:rPr>
              <a:t>Two Harnesses, Same LLM — Different Workflows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323EFA-2B13-E34D-B0A2-43A4BE9EDAE3}"/>
              </a:ext>
            </a:extLst>
          </p:cNvPr>
          <p:cNvSpPr/>
          <p:nvPr/>
        </p:nvSpPr>
        <p:spPr>
          <a:xfrm>
            <a:off x="508000" y="3276600"/>
            <a:ext cx="5270500" cy="30480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CACEBF-1AA7-8D46-A3EA-7E341CA49BB5}"/>
              </a:ext>
            </a:extLst>
          </p:cNvPr>
          <p:cNvSpPr/>
          <p:nvPr/>
        </p:nvSpPr>
        <p:spPr>
          <a:xfrm>
            <a:off x="6413500" y="3276600"/>
            <a:ext cx="5270500" cy="3048000"/>
          </a:xfrm>
          <a:prstGeom prst="roundRect">
            <a:avLst/>
          </a:prstGeom>
          <a:solidFill>
            <a:srgbClr val="F5F3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BA3B8-0DFC-9447-8F38-780ECAD8B4CD}"/>
              </a:ext>
            </a:extLst>
          </p:cNvPr>
          <p:cNvSpPr txBox="1"/>
          <p:nvPr/>
        </p:nvSpPr>
        <p:spPr>
          <a:xfrm>
            <a:off x="736600" y="34036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D4ED8"/>
                </a:solidFill>
              </a:rPr>
              <a:t>Claude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AC6A4F-62EA-814E-903D-0B1674908D9E}"/>
              </a:ext>
            </a:extLst>
          </p:cNvPr>
          <p:cNvSpPr txBox="1"/>
          <p:nvPr/>
        </p:nvSpPr>
        <p:spPr>
          <a:xfrm>
            <a:off x="6642100" y="34036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6D28D9"/>
                </a:solidFill>
              </a:rPr>
              <a:t>Cursor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8CA8F-132B-2048-93E6-92A6AB380A7D}"/>
              </a:ext>
            </a:extLst>
          </p:cNvPr>
          <p:cNvSpPr txBox="1"/>
          <p:nvPr/>
        </p:nvSpPr>
        <p:spPr>
          <a:xfrm>
            <a:off x="736600" y="38608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B5563"/>
                </a:solidFill>
              </a:rPr>
              <a:t>Terminal-native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740B5-DA46-DC4B-9E5F-F9F45936AE49}"/>
              </a:ext>
            </a:extLst>
          </p:cNvPr>
          <p:cNvSpPr txBox="1"/>
          <p:nvPr/>
        </p:nvSpPr>
        <p:spPr>
          <a:xfrm>
            <a:off x="6642100" y="38608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B5563"/>
                </a:solidFill>
              </a:rPr>
              <a:t>IDE-integrated agent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942554-29A6-8544-9F37-8162C3DF855F}"/>
              </a:ext>
            </a:extLst>
          </p:cNvPr>
          <p:cNvSpPr txBox="1"/>
          <p:nvPr/>
        </p:nvSpPr>
        <p:spPr>
          <a:xfrm>
            <a:off x="736600" y="4241800"/>
            <a:ext cx="48260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Runs in your </a:t>
            </a:r>
            <a:r>
              <a:rPr lang="en-US" sz="1400" b="1" dirty="0">
                <a:solidFill>
                  <a:srgbClr val="1D4ED8"/>
                </a:solidFill>
                <a:latin typeface="Segoe UI"/>
              </a:rPr>
              <a:t>terminal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— no IDE required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Full shell access — run scripts, tests, git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Agentic loop: read → edit → run → fix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Generally better tool use/integration because of embedding in the terminal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Better for large builds/running and analyzing stuff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A4E9E-2E83-B449-ADD2-255A9FDBC93E}"/>
              </a:ext>
            </a:extLst>
          </p:cNvPr>
          <p:cNvSpPr txBox="1"/>
          <p:nvPr/>
        </p:nvSpPr>
        <p:spPr>
          <a:xfrm>
            <a:off x="6642100" y="4241800"/>
            <a:ext cx="48260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Lives inside a </a:t>
            </a:r>
            <a:r>
              <a:rPr lang="en-US" sz="1400" b="1" dirty="0">
                <a:solidFill>
                  <a:srgbClr val="6D28D9"/>
                </a:solidFill>
                <a:latin typeface="Segoe UI"/>
              </a:rPr>
              <a:t>VS Code fork</a:t>
            </a:r>
            <a:r>
              <a:rPr lang="en-US" sz="1400" dirty="0">
                <a:solidFill>
                  <a:srgbClr val="2D2D44"/>
                </a:solidFill>
                <a:latin typeface="Segoe UI"/>
              </a:rPr>
              <a:t> (visual IDE)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Inline autocomplete + chat sidebar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Tab-to-accept edits in the editor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Relies on exposed tools to interact with computer which can often be buggy (in my experience)</a:t>
            </a:r>
          </a:p>
          <a:p>
            <a:pPr>
              <a:lnSpc>
                <a:spcPts val="2000"/>
              </a:lnSpc>
              <a:spcBef>
                <a:spcPts val="100"/>
              </a:spcBef>
              <a:buFont typeface="Arial"/>
              <a:buChar char="•"/>
            </a:pPr>
            <a:r>
              <a:rPr lang="en-US" sz="1400" dirty="0">
                <a:solidFill>
                  <a:srgbClr val="2D2D44"/>
                </a:solidFill>
                <a:latin typeface="Segoe UI"/>
              </a:rPr>
              <a:t>Better for looking at diffs/editing code</a:t>
            </a:r>
          </a:p>
        </p:txBody>
      </p:sp>
      <p:pic>
        <p:nvPicPr>
          <p:cNvPr id="19" name="Graphic 19" descr="Terminal icon for Claude Co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7600" y="3429000"/>
            <a:ext cx="431800" cy="431800"/>
          </a:xfrm>
          <a:prstGeom prst="rect">
            <a:avLst/>
          </a:prstGeom>
        </p:spPr>
      </p:pic>
      <p:pic>
        <p:nvPicPr>
          <p:cNvPr id="20" name="Graphic 20" descr="IDE window icon for Curso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0" y="3429000"/>
            <a:ext cx="431800" cy="4318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1B283BB-5D45-BA43-81F5-1C4B36B80763}"/>
              </a:ext>
            </a:extLst>
          </p:cNvPr>
          <p:cNvSpPr/>
          <p:nvPr/>
        </p:nvSpPr>
        <p:spPr>
          <a:xfrm>
            <a:off x="5740400" y="4470400"/>
            <a:ext cx="635000" cy="6350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i="1">
                <a:solidFill>
                  <a:srgbClr val="6B7280"/>
                </a:solidFill>
              </a:rPr>
              <a:t>vs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EC9CFF-5F0E-194D-B2E5-ECA8F3A7C66B}"/>
              </a:ext>
            </a:extLst>
          </p:cNvPr>
          <p:cNvSpPr txBox="1"/>
          <p:nvPr/>
        </p:nvSpPr>
        <p:spPr>
          <a:xfrm>
            <a:off x="508000" y="6477000"/>
            <a:ext cx="1117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B7280"/>
                </a:solidFill>
              </a:rPr>
              <a:t>Both use the same underlying models — the harness determines how you interact.</a:t>
            </a:r>
          </a:p>
        </p:txBody>
      </p:sp>
    </p:spTree>
    <p:extLst>
      <p:ext uri="{BB962C8B-B14F-4D97-AF65-F5344CB8AC3E}">
        <p14:creationId xmlns:p14="http://schemas.microsoft.com/office/powerpoint/2010/main" val="346550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7B86-D0FF-6E91-8F5A-9C75E45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17500"/>
            <a:ext cx="11176000" cy="698500"/>
          </a:xfrm>
        </p:spPr>
        <p:txBody>
          <a:bodyPr>
            <a:noAutofit/>
          </a:bodyPr>
          <a:lstStyle/>
          <a:p>
            <a:r>
              <a:rPr lang="en-US" sz="3200"/>
              <a:t>The Agent Loop</a:t>
            </a:r>
          </a:p>
        </p:txBody>
      </p:sp>
      <p:sp>
        <p:nvSpPr>
          <p:cNvPr id="100" name="Context"/>
          <p:cNvSpPr/>
          <p:nvPr/>
        </p:nvSpPr>
        <p:spPr>
          <a:xfrm>
            <a:off x="2596000" y="1700000"/>
            <a:ext cx="2000000" cy="11000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Context</a:t>
            </a:r>
          </a:p>
          <a:p>
            <a:pPr algn="ctr">
              <a:lnSpc>
                <a:spcPts val="16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Segoe UI"/>
              </a:rPr>
              <a:t>+ tools, history</a:t>
            </a:r>
          </a:p>
        </p:txBody>
      </p:sp>
      <p:sp>
        <p:nvSpPr>
          <p:cNvPr id="101" name="LLM"/>
          <p:cNvSpPr/>
          <p:nvPr/>
        </p:nvSpPr>
        <p:spPr>
          <a:xfrm>
            <a:off x="5096000" y="1700000"/>
            <a:ext cx="2000000" cy="11000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LLM</a:t>
            </a:r>
          </a:p>
          <a:p>
            <a:pPr algn="ctr">
              <a:lnSpc>
                <a:spcPts val="16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Segoe UI"/>
              </a:rPr>
              <a:t>Claude thinks...</a:t>
            </a:r>
          </a:p>
        </p:txBody>
      </p:sp>
      <p:sp>
        <p:nvSpPr>
          <p:cNvPr id="102" name="Action"/>
          <p:cNvSpPr/>
          <p:nvPr/>
        </p:nvSpPr>
        <p:spPr>
          <a:xfrm>
            <a:off x="7596000" y="1700000"/>
            <a:ext cx="2000000" cy="11000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Action</a:t>
            </a:r>
          </a:p>
          <a:p>
            <a:pPr algn="ctr">
              <a:lnSpc>
                <a:spcPts val="16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Segoe UI"/>
              </a:rPr>
              <a:t>edit file, run cmd</a:t>
            </a:r>
          </a:p>
        </p:txBody>
      </p:sp>
      <p:sp>
        <p:nvSpPr>
          <p:cNvPr id="103" name="Response"/>
          <p:cNvSpPr/>
          <p:nvPr/>
        </p:nvSpPr>
        <p:spPr>
          <a:xfrm>
            <a:off x="7596000" y="4150000"/>
            <a:ext cx="2000000" cy="11000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/>
              </a:rPr>
              <a:t>Observe</a:t>
            </a:r>
          </a:p>
          <a:p>
            <a:pPr algn="ctr">
              <a:lnSpc>
                <a:spcPts val="1600"/>
              </a:lnSpc>
              <a:spcBef>
                <a:spcPts val="1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Segoe UI"/>
              </a:rPr>
              <a:t>output, errors, results</a:t>
            </a:r>
          </a:p>
        </p:txBody>
      </p:sp>
      <p:sp>
        <p:nvSpPr>
          <p:cNvPr id="110" name="Arr1"/>
          <p:cNvSpPr/>
          <p:nvPr/>
        </p:nvSpPr>
        <p:spPr>
          <a:xfrm>
            <a:off x="4596000" y="2142500"/>
            <a:ext cx="500000" cy="21500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Arr2"/>
          <p:cNvSpPr/>
          <p:nvPr/>
        </p:nvSpPr>
        <p:spPr>
          <a:xfrm>
            <a:off x="7096000" y="2142500"/>
            <a:ext cx="500000" cy="21500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rr3"/>
          <p:cNvSpPr/>
          <p:nvPr/>
        </p:nvSpPr>
        <p:spPr>
          <a:xfrm>
            <a:off x="8488500" y="2800000"/>
            <a:ext cx="215000" cy="135000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Arr4"/>
          <p:cNvSpPr/>
          <p:nvPr/>
        </p:nvSpPr>
        <p:spPr>
          <a:xfrm>
            <a:off x="4596000" y="4592500"/>
            <a:ext cx="3000000" cy="215000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Arr5"/>
          <p:cNvSpPr/>
          <p:nvPr/>
        </p:nvSpPr>
        <p:spPr>
          <a:xfrm>
            <a:off x="3488500" y="2800000"/>
            <a:ext cx="215000" cy="1350000"/>
          </a:xfrm>
          <a:prstGeom prst="upArrow">
            <a:avLst>
              <a:gd name="adj1" fmla="val 60000"/>
              <a:gd name="adj2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RepeatLabel"/>
          <p:cNvSpPr/>
          <p:nvPr/>
        </p:nvSpPr>
        <p:spPr>
          <a:xfrm>
            <a:off x="4796000" y="48375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i="1" dirty="0">
                <a:solidFill>
                  <a:srgbClr val="4B5563"/>
                </a:solidFill>
                <a:latin typeface="Segoe UI"/>
              </a:rPr>
              <a:t>repeat until task complete</a:t>
            </a:r>
          </a:p>
        </p:txBody>
      </p:sp>
      <p:sp>
        <p:nvSpPr>
          <p:cNvPr id="130" name="Step1"/>
          <p:cNvSpPr/>
          <p:nvPr/>
        </p:nvSpPr>
        <p:spPr>
          <a:xfrm>
            <a:off x="2596000" y="1330000"/>
            <a:ext cx="330000" cy="330000"/>
          </a:xfrm>
          <a:prstGeom prst="ellipse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2563EB"/>
                </a:solidFill>
                <a:latin typeface="Segoe UI Semibold"/>
              </a:rPr>
              <a:t>1</a:t>
            </a:r>
          </a:p>
        </p:txBody>
      </p:sp>
      <p:sp>
        <p:nvSpPr>
          <p:cNvPr id="131" name="Step2"/>
          <p:cNvSpPr/>
          <p:nvPr/>
        </p:nvSpPr>
        <p:spPr>
          <a:xfrm>
            <a:off x="5096000" y="1330000"/>
            <a:ext cx="330000" cy="330000"/>
          </a:xfrm>
          <a:prstGeom prst="ellipse">
            <a:avLst/>
          </a:prstGeom>
          <a:solidFill>
            <a:srgbClr val="1A1A2E">
              <a:alpha val="20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A1A2E"/>
                </a:solidFill>
                <a:latin typeface="Segoe UI Semibold"/>
              </a:rPr>
              <a:t>2</a:t>
            </a:r>
          </a:p>
        </p:txBody>
      </p:sp>
      <p:sp>
        <p:nvSpPr>
          <p:cNvPr id="132" name="Step3"/>
          <p:cNvSpPr/>
          <p:nvPr/>
        </p:nvSpPr>
        <p:spPr>
          <a:xfrm>
            <a:off x="7596000" y="1330000"/>
            <a:ext cx="330000" cy="330000"/>
          </a:xfrm>
          <a:prstGeom prst="ellipse">
            <a:avLst/>
          </a:prstGeom>
          <a:solidFill>
            <a:srgbClr val="D97706">
              <a:alpha val="20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97706"/>
                </a:solidFill>
                <a:latin typeface="Segoe UI Semibold"/>
              </a:rPr>
              <a:t>3</a:t>
            </a:r>
          </a:p>
        </p:txBody>
      </p:sp>
      <p:sp>
        <p:nvSpPr>
          <p:cNvPr id="133" name="Step4"/>
          <p:cNvSpPr/>
          <p:nvPr/>
        </p:nvSpPr>
        <p:spPr>
          <a:xfrm>
            <a:off x="7596000" y="3780000"/>
            <a:ext cx="330000" cy="330000"/>
          </a:xfrm>
          <a:prstGeom prst="ellipse">
            <a:avLst/>
          </a:prstGeom>
          <a:solidFill>
            <a:srgbClr val="059669">
              <a:alpha val="20000"/>
            </a:srgbClr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59669"/>
                </a:solidFill>
                <a:latin typeface="Segoe UI Semi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037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aude Code Workshop">
      <a:dk1>
        <a:srgbClr val="1A1A2E"/>
      </a:dk1>
      <a:lt1>
        <a:srgbClr val="FFFFFF"/>
      </a:lt1>
      <a:dk2>
        <a:srgbClr val="2D2D44"/>
      </a:dk2>
      <a:lt2>
        <a:srgbClr val="F0F2F5"/>
      </a:lt2>
      <a:accent1>
        <a:srgbClr val="D97706"/>
      </a:accent1>
      <a:accent2>
        <a:srgbClr val="2563EB"/>
      </a:accent2>
      <a:accent3>
        <a:srgbClr val="059669"/>
      </a:accent3>
      <a:accent4>
        <a:srgbClr val="7C3AED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Workshop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6871c5-a1c9-4e7f-a472-4e3138eb3481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332</Words>
  <Application>Microsoft Macintosh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Andale Mono</vt:lpstr>
      <vt:lpstr>Arial</vt:lpstr>
      <vt:lpstr>Segoe UI</vt:lpstr>
      <vt:lpstr>Segoe UI Semibold</vt:lpstr>
      <vt:lpstr>Office Theme</vt:lpstr>
      <vt:lpstr>workshop</vt:lpstr>
      <vt:lpstr>What is a Coding Agent?</vt:lpstr>
      <vt:lpstr>Agents = LLMs in a Harness</vt:lpstr>
      <vt:lpstr>The Agent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Blake Lash</cp:lastModifiedBy>
  <cp:revision>4</cp:revision>
  <dcterms:created xsi:type="dcterms:W3CDTF">2018-06-07T21:39:02Z</dcterms:created>
  <dcterms:modified xsi:type="dcterms:W3CDTF">2026-03-08T17:26:37Z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